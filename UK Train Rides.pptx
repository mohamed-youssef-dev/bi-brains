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if/BFgJ8QaTaVEWNGhksz5Lai/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7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RobotoMon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b94538e12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b94538e1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b94538e12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b94538e1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b94538e12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b94538e1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b94538e12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b94538e1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b94538e12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b94538e1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b94538e12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b94538e1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b94538e12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b94538e1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b94538e12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b94538e1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b94538e12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b94538e1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b94538e12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b94538e1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b94538e12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b94538e12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b94538e12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b94538e1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b94538e12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b94538e12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b94538e12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b94538e1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b94538e12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b94538e1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2204000" y="3254600"/>
            <a:ext cx="7784000" cy="11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/>
            </a:lvl9pPr>
          </a:lstStyle>
          <a:p/>
        </p:txBody>
      </p:sp>
      <p:sp>
        <p:nvSpPr>
          <p:cNvPr id="13" name="Google Shape;13;p14"/>
          <p:cNvSpPr txBox="1"/>
          <p:nvPr>
            <p:ph idx="2" type="title"/>
          </p:nvPr>
        </p:nvSpPr>
        <p:spPr>
          <a:xfrm>
            <a:off x="4961000" y="1575000"/>
            <a:ext cx="2270000" cy="13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8000"/>
            </a:lvl9pPr>
          </a:lstStyle>
          <a:p/>
        </p:txBody>
      </p:sp>
      <p:sp>
        <p:nvSpPr>
          <p:cNvPr id="14" name="Google Shape;14;p14"/>
          <p:cNvSpPr txBox="1"/>
          <p:nvPr>
            <p:ph idx="1" type="subTitle"/>
          </p:nvPr>
        </p:nvSpPr>
        <p:spPr>
          <a:xfrm>
            <a:off x="2204000" y="4303053"/>
            <a:ext cx="7784000" cy="6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6" name="Google Shape;1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5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TitleHD.png" id="23" name="Google Shape;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6"/>
          <p:cNvSpPr txBox="1"/>
          <p:nvPr>
            <p:ph type="ctrTitle"/>
          </p:nvPr>
        </p:nvSpPr>
        <p:spPr>
          <a:xfrm>
            <a:off x="3962399" y="1964267"/>
            <a:ext cx="7197726" cy="24214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subTitle"/>
          </p:nvPr>
        </p:nvSpPr>
        <p:spPr>
          <a:xfrm>
            <a:off x="3962399" y="4385732"/>
            <a:ext cx="7197726" cy="140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10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30" name="Google Shape;3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7"/>
          <p:cNvSpPr txBox="1"/>
          <p:nvPr>
            <p:ph type="title"/>
          </p:nvPr>
        </p:nvSpPr>
        <p:spPr>
          <a:xfrm>
            <a:off x="685800" y="3308581"/>
            <a:ext cx="10131427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" type="body"/>
          </p:nvPr>
        </p:nvSpPr>
        <p:spPr>
          <a:xfrm>
            <a:off x="685799" y="4777381"/>
            <a:ext cx="1013142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37" name="Google Shape;3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8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685802" y="2142067"/>
            <a:ext cx="4995334" cy="3649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5821895" y="2142067"/>
            <a:ext cx="4995332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973670" y="2218267"/>
            <a:ext cx="47090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685801" y="2870201"/>
            <a:ext cx="4996923" cy="2920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6096003" y="2226734"/>
            <a:ext cx="47228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5823483" y="2870201"/>
            <a:ext cx="4995334" cy="2920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54" name="Google Shape;5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0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60" name="Google Shape;6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1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65" name="Google Shape;6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2"/>
          <p:cNvSpPr txBox="1"/>
          <p:nvPr>
            <p:ph type="title"/>
          </p:nvPr>
        </p:nvSpPr>
        <p:spPr>
          <a:xfrm>
            <a:off x="685800" y="2074333"/>
            <a:ext cx="368088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" type="body"/>
          </p:nvPr>
        </p:nvSpPr>
        <p:spPr>
          <a:xfrm>
            <a:off x="4648201" y="609601"/>
            <a:ext cx="6169026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idx="2" type="body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73" name="Google Shape;7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3"/>
          <p:cNvSpPr txBox="1"/>
          <p:nvPr>
            <p:ph type="title"/>
          </p:nvPr>
        </p:nvSpPr>
        <p:spPr>
          <a:xfrm>
            <a:off x="685800" y="1600200"/>
            <a:ext cx="616465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/>
          <p:nvPr>
            <p:ph idx="2" type="pic"/>
          </p:nvPr>
        </p:nvSpPr>
        <p:spPr>
          <a:xfrm>
            <a:off x="7536253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2745"/>
              </a:srgbClr>
            </a:outerShdw>
          </a:effectLst>
        </p:spPr>
      </p:sp>
      <p:sp>
        <p:nvSpPr>
          <p:cNvPr id="76" name="Google Shape;76;p23"/>
          <p:cNvSpPr txBox="1"/>
          <p:nvPr>
            <p:ph idx="1" type="body"/>
          </p:nvPr>
        </p:nvSpPr>
        <p:spPr>
          <a:xfrm>
            <a:off x="685800" y="2971800"/>
            <a:ext cx="6164653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81" name="Google Shape;8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4"/>
          <p:cNvSpPr txBox="1"/>
          <p:nvPr>
            <p:ph type="title"/>
          </p:nvPr>
        </p:nvSpPr>
        <p:spPr>
          <a:xfrm>
            <a:off x="685800" y="4732865"/>
            <a:ext cx="1013142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/>
          <p:nvPr>
            <p:ph idx="2" type="pic"/>
          </p:nvPr>
        </p:nvSpPr>
        <p:spPr>
          <a:xfrm>
            <a:off x="1371600" y="932112"/>
            <a:ext cx="8759827" cy="3164976"/>
          </a:xfrm>
          <a:prstGeom prst="roundRect">
            <a:avLst>
              <a:gd fmla="val 43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2745"/>
              </a:srgbClr>
            </a:outerShdw>
          </a:effectLst>
        </p:spPr>
      </p:sp>
      <p:sp>
        <p:nvSpPr>
          <p:cNvPr id="84" name="Google Shape;84;p24"/>
          <p:cNvSpPr txBox="1"/>
          <p:nvPr>
            <p:ph idx="1" type="body"/>
          </p:nvPr>
        </p:nvSpPr>
        <p:spPr>
          <a:xfrm>
            <a:off x="685800" y="5299603"/>
            <a:ext cx="10131427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24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4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4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89" name="Google Shape;8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5"/>
          <p:cNvSpPr txBox="1"/>
          <p:nvPr>
            <p:ph type="title"/>
          </p:nvPr>
        </p:nvSpPr>
        <p:spPr>
          <a:xfrm>
            <a:off x="685801" y="609601"/>
            <a:ext cx="10131427" cy="3124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5"/>
          <p:cNvSpPr txBox="1"/>
          <p:nvPr>
            <p:ph idx="1" type="body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5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96" name="Google Shape;9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6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98" name="Google Shape;98;p26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9" name="Google Shape;99;p26"/>
          <p:cNvSpPr txBox="1"/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" type="body"/>
          </p:nvPr>
        </p:nvSpPr>
        <p:spPr>
          <a:xfrm>
            <a:off x="1097875" y="3352800"/>
            <a:ext cx="933918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2" type="body"/>
          </p:nvPr>
        </p:nvSpPr>
        <p:spPr>
          <a:xfrm>
            <a:off x="687465" y="4343400"/>
            <a:ext cx="10152367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26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06" name="Google Shape;10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7"/>
          <p:cNvSpPr txBox="1"/>
          <p:nvPr>
            <p:ph type="title"/>
          </p:nvPr>
        </p:nvSpPr>
        <p:spPr>
          <a:xfrm>
            <a:off x="685802" y="3308581"/>
            <a:ext cx="10131425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7"/>
          <p:cNvSpPr txBox="1"/>
          <p:nvPr>
            <p:ph idx="1" type="body"/>
          </p:nvPr>
        </p:nvSpPr>
        <p:spPr>
          <a:xfrm>
            <a:off x="685801" y="4777381"/>
            <a:ext cx="10131426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27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7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13" name="Google Shape;113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8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15" name="Google Shape;115;p28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6" name="Google Shape;116;p28"/>
          <p:cNvSpPr txBox="1"/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" type="body"/>
          </p:nvPr>
        </p:nvSpPr>
        <p:spPr>
          <a:xfrm>
            <a:off x="685800" y="3886200"/>
            <a:ext cx="10135436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2" type="body"/>
          </p:nvPr>
        </p:nvSpPr>
        <p:spPr>
          <a:xfrm>
            <a:off x="685799" y="4775200"/>
            <a:ext cx="10135436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28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23" name="Google Shape;12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9"/>
          <p:cNvSpPr txBox="1"/>
          <p:nvPr>
            <p:ph type="title"/>
          </p:nvPr>
        </p:nvSpPr>
        <p:spPr>
          <a:xfrm>
            <a:off x="685801" y="609601"/>
            <a:ext cx="10131427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idx="1" type="body"/>
          </p:nvPr>
        </p:nvSpPr>
        <p:spPr>
          <a:xfrm>
            <a:off x="685801" y="3505200"/>
            <a:ext cx="10131428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9"/>
          <p:cNvSpPr txBox="1"/>
          <p:nvPr>
            <p:ph idx="2" type="body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29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31" name="Google Shape;13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0"/>
          <p:cNvSpPr txBox="1"/>
          <p:nvPr>
            <p:ph idx="1" type="body"/>
          </p:nvPr>
        </p:nvSpPr>
        <p:spPr>
          <a:xfrm rot="5400000">
            <a:off x="3926947" y="-1099079"/>
            <a:ext cx="3649133" cy="1013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30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0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0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30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38" name="Google Shape;13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1"/>
          <p:cNvSpPr txBox="1"/>
          <p:nvPr>
            <p:ph type="title"/>
          </p:nvPr>
        </p:nvSpPr>
        <p:spPr>
          <a:xfrm rot="5400000">
            <a:off x="7147151" y="2121124"/>
            <a:ext cx="5181601" cy="2158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1"/>
          <p:cNvSpPr txBox="1"/>
          <p:nvPr>
            <p:ph idx="1" type="body"/>
          </p:nvPr>
        </p:nvSpPr>
        <p:spPr>
          <a:xfrm rot="5400000">
            <a:off x="2011058" y="-715658"/>
            <a:ext cx="5181600" cy="7832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31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datasets/motsimaslam/national-rail-uk-train-ticket-data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/>
          <p:nvPr>
            <p:ph type="title"/>
          </p:nvPr>
        </p:nvSpPr>
        <p:spPr>
          <a:xfrm>
            <a:off x="1955425" y="2739695"/>
            <a:ext cx="7784000" cy="11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UK Train Rides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/>
          <p:nvPr>
            <p:ph type="title"/>
          </p:nvPr>
        </p:nvSpPr>
        <p:spPr>
          <a:xfrm>
            <a:off x="685739" y="566825"/>
            <a:ext cx="10131300" cy="14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Team Members</a:t>
            </a:r>
            <a:endParaRPr/>
          </a:p>
        </p:txBody>
      </p:sp>
      <p:sp>
        <p:nvSpPr>
          <p:cNvPr id="154" name="Google Shape;154;p2"/>
          <p:cNvSpPr txBox="1"/>
          <p:nvPr>
            <p:ph idx="1" type="body"/>
          </p:nvPr>
        </p:nvSpPr>
        <p:spPr>
          <a:xfrm>
            <a:off x="685801" y="2156317"/>
            <a:ext cx="10131300" cy="3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BI Brain Team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Mohamed Youssef Elhamaimy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Hazem Abobakr Mohamed Rabie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Kevin Remon George Fouad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Mohamed Waled Elsayed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Amr Abdo Badawy Selim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Omar Ali Elsayied Abo Samra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05740" lvl="0" marL="285750" rtl="0" algn="l"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b94538e12_0_18"/>
          <p:cNvSpPr txBox="1"/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Overview</a:t>
            </a:r>
            <a:endParaRPr/>
          </a:p>
        </p:txBody>
      </p:sp>
      <p:sp>
        <p:nvSpPr>
          <p:cNvPr id="160" name="Google Shape;160;g3ab94538e12_0_18"/>
          <p:cNvSpPr txBox="1"/>
          <p:nvPr>
            <p:ph idx="1" type="body"/>
          </p:nvPr>
        </p:nvSpPr>
        <p:spPr>
          <a:xfrm>
            <a:off x="685801" y="2142067"/>
            <a:ext cx="10131300" cy="364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5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001"/>
              <a:buFont typeface="Arial"/>
              <a:buNone/>
            </a:pPr>
            <a:r>
              <a:rPr lang="en-US" sz="2820"/>
              <a:t>This project analyses mock UK National Rail ticketing data from January to April 2024.</a:t>
            </a:r>
            <a:br>
              <a:rPr lang="en-US" sz="2820"/>
            </a:br>
            <a:r>
              <a:rPr lang="en-US" sz="2820"/>
              <a:t> The aim is to explore:</a:t>
            </a:r>
            <a:endParaRPr sz="2820"/>
          </a:p>
          <a:p>
            <a:pPr indent="-30265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75180"/>
              <a:buChar char="●"/>
            </a:pPr>
            <a:r>
              <a:rPr lang="en-US" sz="2820"/>
              <a:t>Popular travel routes</a:t>
            </a:r>
            <a:br>
              <a:rPr lang="en-US" sz="2820"/>
            </a:br>
            <a:endParaRPr sz="2820"/>
          </a:p>
          <a:p>
            <a:pPr indent="-3026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75180"/>
              <a:buChar char="●"/>
            </a:pPr>
            <a:r>
              <a:rPr lang="en-US" sz="2820"/>
              <a:t>Peak travel times</a:t>
            </a:r>
            <a:br>
              <a:rPr lang="en-US" sz="2820"/>
            </a:br>
            <a:endParaRPr sz="2820"/>
          </a:p>
          <a:p>
            <a:pPr indent="-3026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75180"/>
              <a:buChar char="●"/>
            </a:pPr>
            <a:r>
              <a:rPr lang="en-US" sz="2820"/>
              <a:t>Revenue performance</a:t>
            </a:r>
            <a:br>
              <a:rPr lang="en-US" sz="2820"/>
            </a:br>
            <a:endParaRPr sz="2820"/>
          </a:p>
          <a:p>
            <a:pPr indent="-3026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75180"/>
              <a:buChar char="●"/>
            </a:pPr>
            <a:r>
              <a:rPr lang="en-US" sz="2820"/>
              <a:t>On-time and operational performance</a:t>
            </a:r>
            <a:br>
              <a:rPr lang="en-US" sz="2820"/>
            </a:br>
            <a:endParaRPr sz="2820"/>
          </a:p>
          <a:p>
            <a:pPr indent="-3026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75180"/>
              <a:buChar char="●"/>
            </a:pPr>
            <a:r>
              <a:rPr lang="en-US" sz="2820"/>
              <a:t>Factors contributing to delays and cancellations</a:t>
            </a:r>
            <a:br>
              <a:rPr lang="en-US" sz="2820"/>
            </a:br>
            <a:endParaRPr sz="282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20"/>
              <a:t>The dataset includes journey times, ticket types, payment methods, prices, delays, cancellations, refund requests, and more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b94538e12_0_25"/>
          <p:cNvSpPr txBox="1"/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Preparation</a:t>
            </a:r>
            <a:endParaRPr/>
          </a:p>
        </p:txBody>
      </p:sp>
      <p:sp>
        <p:nvSpPr>
          <p:cNvPr id="166" name="Google Shape;166;g3ab94538e12_0_25"/>
          <p:cNvSpPr txBox="1"/>
          <p:nvPr>
            <p:ph idx="1" type="body"/>
          </p:nvPr>
        </p:nvSpPr>
        <p:spPr>
          <a:xfrm>
            <a:off x="685801" y="2142067"/>
            <a:ext cx="10131300" cy="364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1. Data Download</a:t>
            </a:r>
            <a:br>
              <a:rPr b="1"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Dataset was provided in CSV format.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Dataset Link: </a:t>
            </a:r>
            <a:r>
              <a:rPr lang="en-US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https://www.kaggle.com/datasets/motsimaslam/national-rail-uk-train-ticket-data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2. Loading into Power BI</a:t>
            </a:r>
            <a:br>
              <a:rPr b="1"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Imported using </a:t>
            </a:r>
            <a:r>
              <a:rPr i="1" lang="en-US" sz="1600">
                <a:latin typeface="Arial"/>
                <a:ea typeface="Arial"/>
                <a:cs typeface="Arial"/>
                <a:sym typeface="Arial"/>
              </a:rPr>
              <a:t>Get Data → CSV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3. Data Cleaning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Corrected data types (dates, times, numbers).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Removed or treated outliers in prices and journey times.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Ensured consistency in categorical fields (ticket type, payment method, status).</a:t>
            </a:r>
            <a:endParaRPr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b94538e12_0_34"/>
          <p:cNvSpPr txBox="1"/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Dashboard Overview</a:t>
            </a:r>
            <a:endParaRPr/>
          </a:p>
        </p:txBody>
      </p:sp>
      <p:sp>
        <p:nvSpPr>
          <p:cNvPr id="172" name="Google Shape;172;g3ab94538e12_0_34"/>
          <p:cNvSpPr txBox="1"/>
          <p:nvPr>
            <p:ph idx="1" type="body"/>
          </p:nvPr>
        </p:nvSpPr>
        <p:spPr>
          <a:xfrm>
            <a:off x="685801" y="2142067"/>
            <a:ext cx="10131300" cy="364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dashboard contains four main analytical sections: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/>
              <a:t>UK Train Overview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/>
              <a:t>Revenue Analysis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/>
              <a:t>Refund Analysis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/>
              <a:t>Routes &amp; Stations Analysis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Interactive navigation buttons allow exploring each category easily.</a:t>
            </a:r>
            <a:br>
              <a:rPr lang="en-US"/>
            </a:br>
            <a:r>
              <a:rPr lang="en-US"/>
              <a:t> The dashboard helps stakeholders understand traveller behavior, operational issues, and financial trends.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b94538e12_0_41"/>
          <p:cNvSpPr txBox="1"/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DAX Measures (Organized Version)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 Performance Measures (Delay / On-Time / Cancellation)</a:t>
            </a:r>
            <a:endParaRPr sz="2600"/>
          </a:p>
        </p:txBody>
      </p:sp>
      <p:sp>
        <p:nvSpPr>
          <p:cNvPr id="178" name="Google Shape;178;g3ab94538e12_0_41"/>
          <p:cNvSpPr txBox="1"/>
          <p:nvPr>
            <p:ph idx="1" type="body"/>
          </p:nvPr>
        </p:nvSpPr>
        <p:spPr>
          <a:xfrm>
            <a:off x="685801" y="2142067"/>
            <a:ext cx="10131300" cy="364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3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9137"/>
              <a:buFont typeface="Arial"/>
              <a:buNone/>
            </a:pPr>
            <a:r>
              <a:rPr b="1" lang="en-US" sz="3775">
                <a:latin typeface="Arial"/>
                <a:ea typeface="Arial"/>
                <a:cs typeface="Arial"/>
                <a:sym typeface="Arial"/>
              </a:rPr>
              <a:t>Delayed Journeys Count</a:t>
            </a:r>
            <a:br>
              <a:rPr b="1" lang="en-US" sz="3775">
                <a:latin typeface="Arial"/>
                <a:ea typeface="Arial"/>
                <a:cs typeface="Arial"/>
                <a:sym typeface="Arial"/>
              </a:rPr>
            </a:br>
            <a:r>
              <a:rPr lang="en-US" sz="377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75">
                <a:solidFill>
                  <a:srgbClr val="93C47D"/>
                </a:solidFill>
                <a:latin typeface="Roboto Mono"/>
                <a:ea typeface="Roboto Mono"/>
                <a:cs typeface="Roboto Mono"/>
                <a:sym typeface="Roboto Mono"/>
              </a:rPr>
              <a:t>Delayed = CALCULATE(COUNTROWS(railway), railway[Journey Status] = "Delayed")</a:t>
            </a:r>
            <a:endParaRPr sz="3775">
              <a:solidFill>
                <a:srgbClr val="93C47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9137"/>
              <a:buFont typeface="Arial"/>
              <a:buNone/>
            </a:pPr>
            <a:r>
              <a:rPr b="1" lang="en-US" sz="3775">
                <a:latin typeface="Arial"/>
                <a:ea typeface="Arial"/>
                <a:cs typeface="Arial"/>
                <a:sym typeface="Arial"/>
              </a:rPr>
              <a:t>Average Delay (Minutes)</a:t>
            </a:r>
            <a:br>
              <a:rPr b="1" lang="en-US" sz="3775">
                <a:latin typeface="Arial"/>
                <a:ea typeface="Arial"/>
                <a:cs typeface="Arial"/>
                <a:sym typeface="Arial"/>
              </a:rPr>
            </a:br>
            <a:r>
              <a:rPr lang="en-US" sz="3775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75">
                <a:solidFill>
                  <a:srgbClr val="93C47D"/>
                </a:solidFill>
                <a:latin typeface="Roboto Mono"/>
                <a:ea typeface="Roboto Mono"/>
                <a:cs typeface="Roboto Mono"/>
                <a:sym typeface="Roboto Mono"/>
              </a:rPr>
              <a:t>AVG Delay (Minutes) = CALCULATE(AVERAGE(railway[Delay (Minutes)]), railway[Journey Status] = "Delayed")</a:t>
            </a:r>
            <a:endParaRPr sz="3775">
              <a:solidFill>
                <a:srgbClr val="93C47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9137"/>
              <a:buFont typeface="Arial"/>
              <a:buNone/>
            </a:pPr>
            <a:r>
              <a:rPr b="1" lang="en-US" sz="3775">
                <a:latin typeface="Arial"/>
                <a:ea typeface="Arial"/>
                <a:cs typeface="Arial"/>
                <a:sym typeface="Arial"/>
              </a:rPr>
              <a:t>On-Time Journeys Count</a:t>
            </a:r>
            <a:br>
              <a:rPr b="1" lang="en-US" sz="3775">
                <a:latin typeface="Arial"/>
                <a:ea typeface="Arial"/>
                <a:cs typeface="Arial"/>
                <a:sym typeface="Arial"/>
              </a:rPr>
            </a:br>
            <a:r>
              <a:rPr lang="en-US" sz="3775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75">
                <a:solidFill>
                  <a:srgbClr val="93C47D"/>
                </a:solidFill>
                <a:latin typeface="Roboto Mono"/>
                <a:ea typeface="Roboto Mono"/>
                <a:cs typeface="Roboto Mono"/>
                <a:sym typeface="Roboto Mono"/>
              </a:rPr>
              <a:t>On Time = CALCULATE(COUNTROWS(railway), railway[Journey Status] = "On Time")</a:t>
            </a:r>
            <a:endParaRPr sz="3775">
              <a:solidFill>
                <a:srgbClr val="93C47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9137"/>
              <a:buFont typeface="Arial"/>
              <a:buNone/>
            </a:pPr>
            <a:r>
              <a:rPr b="1" lang="en-US" sz="3775">
                <a:latin typeface="Arial"/>
                <a:ea typeface="Arial"/>
                <a:cs typeface="Arial"/>
                <a:sym typeface="Arial"/>
              </a:rPr>
              <a:t>Not Cancelled</a:t>
            </a:r>
            <a:br>
              <a:rPr b="1" lang="en-US" sz="3775">
                <a:latin typeface="Arial"/>
                <a:ea typeface="Arial"/>
                <a:cs typeface="Arial"/>
                <a:sym typeface="Arial"/>
              </a:rPr>
            </a:br>
            <a:r>
              <a:rPr lang="en-US" sz="377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75">
                <a:solidFill>
                  <a:srgbClr val="93C47D"/>
                </a:solidFill>
                <a:latin typeface="Roboto Mono"/>
                <a:ea typeface="Roboto Mono"/>
                <a:cs typeface="Roboto Mono"/>
                <a:sym typeface="Roboto Mono"/>
              </a:rPr>
              <a:t>Not Cancelled = CALCULATE(COUNTROWS(railway), railway[Journey Status] &lt;&gt; "Cancelled")</a:t>
            </a:r>
            <a:endParaRPr sz="3775">
              <a:solidFill>
                <a:srgbClr val="93C47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9137"/>
              <a:buFont typeface="Arial"/>
              <a:buNone/>
            </a:pPr>
            <a:r>
              <a:rPr b="1" lang="en-US" sz="3775">
                <a:latin typeface="Arial"/>
                <a:ea typeface="Arial"/>
                <a:cs typeface="Arial"/>
                <a:sym typeface="Arial"/>
              </a:rPr>
              <a:t>Cancelled Journeys</a:t>
            </a:r>
            <a:br>
              <a:rPr b="1" lang="en-US" sz="3775">
                <a:latin typeface="Arial"/>
                <a:ea typeface="Arial"/>
                <a:cs typeface="Arial"/>
                <a:sym typeface="Arial"/>
              </a:rPr>
            </a:br>
            <a:r>
              <a:rPr lang="en-US" sz="377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75">
                <a:solidFill>
                  <a:srgbClr val="93C47D"/>
                </a:solidFill>
                <a:latin typeface="Roboto Mono"/>
                <a:ea typeface="Roboto Mono"/>
                <a:cs typeface="Roboto Mono"/>
                <a:sym typeface="Roboto Mono"/>
              </a:rPr>
              <a:t>Cancelled = COUNTROWS(railway) - [Not Cancelled]</a:t>
            </a:r>
            <a:endParaRPr sz="3775">
              <a:solidFill>
                <a:srgbClr val="93C47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9137"/>
              <a:buFont typeface="Arial"/>
              <a:buNone/>
            </a:pPr>
            <a:r>
              <a:rPr b="1" lang="en-US" sz="3775">
                <a:latin typeface="Arial"/>
                <a:ea typeface="Arial"/>
                <a:cs typeface="Arial"/>
                <a:sym typeface="Arial"/>
              </a:rPr>
              <a:t>On-Time Percentage</a:t>
            </a:r>
            <a:br>
              <a:rPr b="1" lang="en-US" sz="3775">
                <a:latin typeface="Arial"/>
                <a:ea typeface="Arial"/>
                <a:cs typeface="Arial"/>
                <a:sym typeface="Arial"/>
              </a:rPr>
            </a:br>
            <a:r>
              <a:rPr lang="en-US" sz="377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75">
                <a:solidFill>
                  <a:srgbClr val="93C47D"/>
                </a:solidFill>
                <a:latin typeface="Roboto Mono"/>
                <a:ea typeface="Roboto Mono"/>
                <a:cs typeface="Roboto Mono"/>
                <a:sym typeface="Roboto Mono"/>
              </a:rPr>
              <a:t>On-Time % = DIVIDE([On Time], [Not Cancelled])</a:t>
            </a:r>
            <a:endParaRPr sz="3775">
              <a:solidFill>
                <a:srgbClr val="93C47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b94538e12_0_48"/>
          <p:cNvSpPr txBox="1"/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DAX Measures (Organized Version)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Revenue &amp; Ticket Sales Measures</a:t>
            </a:r>
            <a:endParaRPr sz="2500"/>
          </a:p>
        </p:txBody>
      </p:sp>
      <p:sp>
        <p:nvSpPr>
          <p:cNvPr id="184" name="Google Shape;184;g3ab94538e12_0_48"/>
          <p:cNvSpPr txBox="1"/>
          <p:nvPr>
            <p:ph idx="1" type="body"/>
          </p:nvPr>
        </p:nvSpPr>
        <p:spPr>
          <a:xfrm>
            <a:off x="685801" y="2142067"/>
            <a:ext cx="10131300" cy="364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Total Revenue</a:t>
            </a:r>
            <a:b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93C47D"/>
                </a:solidFill>
                <a:latin typeface="Roboto Mono"/>
                <a:ea typeface="Roboto Mono"/>
                <a:cs typeface="Roboto Mono"/>
                <a:sym typeface="Roboto Mono"/>
              </a:rPr>
              <a:t>Total Revenue = SUM(railway[Price])</a:t>
            </a:r>
            <a:endParaRPr sz="1400">
              <a:solidFill>
                <a:srgbClr val="93C47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Average Ticket Price</a:t>
            </a:r>
            <a:b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93C47D"/>
                </a:solidFill>
                <a:latin typeface="Roboto Mono"/>
                <a:ea typeface="Roboto Mono"/>
                <a:cs typeface="Roboto Mono"/>
                <a:sym typeface="Roboto Mono"/>
              </a:rPr>
              <a:t>AvgPrice = AVERAGE(railway[Price])</a:t>
            </a:r>
            <a:endParaRPr sz="1400">
              <a:solidFill>
                <a:srgbClr val="93C47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Number of Tickets Sold</a:t>
            </a:r>
            <a:b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93C47D"/>
                </a:solidFill>
                <a:latin typeface="Roboto Mono"/>
                <a:ea typeface="Roboto Mono"/>
                <a:cs typeface="Roboto Mono"/>
                <a:sym typeface="Roboto Mono"/>
              </a:rPr>
              <a:t>No of Tickets = COUNT(railway[Transaction ID])</a:t>
            </a:r>
            <a:endParaRPr sz="1400">
              <a:solidFill>
                <a:srgbClr val="93C47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Number of Routes</a:t>
            </a:r>
            <a:b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93C47D"/>
                </a:solidFill>
                <a:latin typeface="Roboto Mono"/>
                <a:ea typeface="Roboto Mono"/>
                <a:cs typeface="Roboto Mono"/>
                <a:sym typeface="Roboto Mono"/>
              </a:rPr>
              <a:t>Number of Routes = DISTINCTCOUNT(railway[Route])</a:t>
            </a:r>
            <a:endParaRPr sz="1400">
              <a:solidFill>
                <a:srgbClr val="93C47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Number of Stations</a:t>
            </a:r>
            <a:b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93C47D"/>
                </a:solidFill>
                <a:latin typeface="Roboto Mono"/>
                <a:ea typeface="Roboto Mono"/>
                <a:cs typeface="Roboto Mono"/>
                <a:sym typeface="Roboto Mono"/>
              </a:rPr>
              <a:t>No of stations = DISTINCTCOUNT(railway[Arrival Destination])</a:t>
            </a:r>
            <a:endParaRPr sz="1400">
              <a:solidFill>
                <a:srgbClr val="93C47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b94538e12_0_57"/>
          <p:cNvSpPr txBox="1"/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DAX Measures (Organized Version)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Refund Measures</a:t>
            </a:r>
            <a:endParaRPr sz="2500"/>
          </a:p>
        </p:txBody>
      </p:sp>
      <p:sp>
        <p:nvSpPr>
          <p:cNvPr id="190" name="Google Shape;190;g3ab94538e12_0_57"/>
          <p:cNvSpPr txBox="1"/>
          <p:nvPr>
            <p:ph idx="1" type="body"/>
          </p:nvPr>
        </p:nvSpPr>
        <p:spPr>
          <a:xfrm>
            <a:off x="685801" y="2142067"/>
            <a:ext cx="10131300" cy="364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Refund Requests Count</a:t>
            </a:r>
            <a:br>
              <a:rPr b="1" lang="en-US" sz="1500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rgbClr val="93C47D"/>
                </a:solidFill>
                <a:latin typeface="Roboto Mono"/>
                <a:ea typeface="Roboto Mono"/>
                <a:cs typeface="Roboto Mono"/>
                <a:sym typeface="Roboto Mono"/>
              </a:rPr>
              <a:t>Refund Request = CALCULATE(COUNT(railway[Refund Request]), railway[Refund Request] = "Yes")</a:t>
            </a:r>
            <a:endParaRPr sz="1500">
              <a:solidFill>
                <a:srgbClr val="93C47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Refund Percentage</a:t>
            </a:r>
            <a:b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rgbClr val="93C47D"/>
                </a:solidFill>
                <a:latin typeface="Roboto Mono"/>
                <a:ea typeface="Roboto Mono"/>
                <a:cs typeface="Roboto Mono"/>
                <a:sym typeface="Roboto Mono"/>
              </a:rPr>
              <a:t>Refund% = DIVIDE([Refund Request], [No of Tickets])</a:t>
            </a:r>
            <a:endParaRPr sz="1500">
              <a:solidFill>
                <a:srgbClr val="93C47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Total Refund Amount</a:t>
            </a:r>
            <a:b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rgbClr val="93C47D"/>
                </a:solidFill>
                <a:latin typeface="Roboto Mono"/>
                <a:ea typeface="Roboto Mono"/>
                <a:cs typeface="Roboto Mono"/>
                <a:sym typeface="Roboto Mono"/>
              </a:rPr>
              <a:t>Refund Amount = CALCULATE(SUM(railway[Price]), railway[Refund Request] = "Yes")</a:t>
            </a:r>
            <a:endParaRPr sz="1500">
              <a:solidFill>
                <a:srgbClr val="93C47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Average Refund Amount</a:t>
            </a:r>
            <a:b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rgbClr val="93C47D"/>
                </a:solidFill>
                <a:latin typeface="Roboto Mono"/>
                <a:ea typeface="Roboto Mono"/>
                <a:cs typeface="Roboto Mono"/>
                <a:sym typeface="Roboto Mono"/>
              </a:rPr>
              <a:t>Avg refund = CALCULATE(AVERAGE(railway[Price]), railway[Refund Request] = "Yes")</a:t>
            </a:r>
            <a:endParaRPr sz="1500">
              <a:solidFill>
                <a:srgbClr val="93C47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b94538e12_0_65"/>
          <p:cNvSpPr txBox="1"/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Revenue Analysis (Summary)</a:t>
            </a:r>
            <a:endParaRPr/>
          </a:p>
        </p:txBody>
      </p:sp>
      <p:sp>
        <p:nvSpPr>
          <p:cNvPr id="196" name="Google Shape;196;g3ab94538e12_0_65"/>
          <p:cNvSpPr txBox="1"/>
          <p:nvPr>
            <p:ph idx="1" type="body"/>
          </p:nvPr>
        </p:nvSpPr>
        <p:spPr>
          <a:xfrm>
            <a:off x="685801" y="2142067"/>
            <a:ext cx="10131300" cy="364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25000" lnSpcReduction="20000"/>
          </a:bodyPr>
          <a:lstStyle/>
          <a:p>
            <a:pPr indent="-31286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US" sz="5307">
                <a:latin typeface="Arial"/>
                <a:ea typeface="Arial"/>
                <a:cs typeface="Arial"/>
                <a:sym typeface="Arial"/>
              </a:rPr>
              <a:t>Total Revenue: </a:t>
            </a:r>
            <a:r>
              <a:rPr b="1" lang="en-US" sz="5307">
                <a:latin typeface="Arial"/>
                <a:ea typeface="Arial"/>
                <a:cs typeface="Arial"/>
                <a:sym typeface="Arial"/>
              </a:rPr>
              <a:t>£741,921</a:t>
            </a:r>
            <a:br>
              <a:rPr b="1" lang="en-US" sz="5307">
                <a:latin typeface="Arial"/>
                <a:ea typeface="Arial"/>
                <a:cs typeface="Arial"/>
                <a:sym typeface="Arial"/>
              </a:rPr>
            </a:br>
            <a:endParaRPr b="1" sz="5307">
              <a:latin typeface="Arial"/>
              <a:ea typeface="Arial"/>
              <a:cs typeface="Arial"/>
              <a:sym typeface="Arial"/>
            </a:endParaRPr>
          </a:p>
          <a:p>
            <a:pPr indent="-31286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US" sz="5307">
                <a:latin typeface="Arial"/>
                <a:ea typeface="Arial"/>
                <a:cs typeface="Arial"/>
                <a:sym typeface="Arial"/>
              </a:rPr>
              <a:t>Number of Tickets: </a:t>
            </a:r>
            <a:r>
              <a:rPr b="1" lang="en-US" sz="5307">
                <a:latin typeface="Arial"/>
                <a:ea typeface="Arial"/>
                <a:cs typeface="Arial"/>
                <a:sym typeface="Arial"/>
              </a:rPr>
              <a:t>31,653</a:t>
            </a:r>
            <a:br>
              <a:rPr b="1" lang="en-US" sz="5307">
                <a:latin typeface="Arial"/>
                <a:ea typeface="Arial"/>
                <a:cs typeface="Arial"/>
                <a:sym typeface="Arial"/>
              </a:rPr>
            </a:br>
            <a:endParaRPr b="1" sz="5307">
              <a:latin typeface="Arial"/>
              <a:ea typeface="Arial"/>
              <a:cs typeface="Arial"/>
              <a:sym typeface="Arial"/>
            </a:endParaRPr>
          </a:p>
          <a:p>
            <a:pPr indent="-31286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US" sz="5307">
                <a:latin typeface="Arial"/>
                <a:ea typeface="Arial"/>
                <a:cs typeface="Arial"/>
                <a:sym typeface="Arial"/>
              </a:rPr>
              <a:t>Average Ticket Price: </a:t>
            </a:r>
            <a:r>
              <a:rPr b="1" lang="en-US" sz="5307">
                <a:latin typeface="Arial"/>
                <a:ea typeface="Arial"/>
                <a:cs typeface="Arial"/>
                <a:sym typeface="Arial"/>
              </a:rPr>
              <a:t>£23.44</a:t>
            </a:r>
            <a:br>
              <a:rPr b="1" lang="en-US" sz="5307">
                <a:latin typeface="Arial"/>
                <a:ea typeface="Arial"/>
                <a:cs typeface="Arial"/>
                <a:sym typeface="Arial"/>
              </a:rPr>
            </a:br>
            <a:endParaRPr b="1" sz="5307">
              <a:latin typeface="Arial"/>
              <a:ea typeface="Arial"/>
              <a:cs typeface="Arial"/>
              <a:sym typeface="Arial"/>
            </a:endParaRPr>
          </a:p>
          <a:p>
            <a:pPr indent="-31286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US" sz="5307">
                <a:latin typeface="Arial"/>
                <a:ea typeface="Arial"/>
                <a:cs typeface="Arial"/>
                <a:sym typeface="Arial"/>
              </a:rPr>
              <a:t>Total Stations Covered: </a:t>
            </a:r>
            <a:r>
              <a:rPr b="1" lang="en-US" sz="5307">
                <a:latin typeface="Arial"/>
                <a:ea typeface="Arial"/>
                <a:cs typeface="Arial"/>
                <a:sym typeface="Arial"/>
              </a:rPr>
              <a:t>32</a:t>
            </a:r>
            <a:endParaRPr b="1" sz="530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5307">
                <a:latin typeface="Arial"/>
                <a:ea typeface="Arial"/>
                <a:cs typeface="Arial"/>
                <a:sym typeface="Arial"/>
              </a:rPr>
              <a:t>Monthly Revenue:</a:t>
            </a:r>
            <a:endParaRPr b="1" sz="5307">
              <a:latin typeface="Arial"/>
              <a:ea typeface="Arial"/>
              <a:cs typeface="Arial"/>
              <a:sym typeface="Arial"/>
            </a:endParaRPr>
          </a:p>
          <a:p>
            <a:pPr indent="-31286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US" sz="5307">
                <a:latin typeface="Arial"/>
                <a:ea typeface="Arial"/>
                <a:cs typeface="Arial"/>
                <a:sym typeface="Arial"/>
              </a:rPr>
              <a:t>Highest: </a:t>
            </a:r>
            <a:r>
              <a:rPr b="1" lang="en-US" sz="5307">
                <a:latin typeface="Arial"/>
                <a:ea typeface="Arial"/>
                <a:cs typeface="Arial"/>
                <a:sym typeface="Arial"/>
              </a:rPr>
              <a:t>January (£170k)</a:t>
            </a:r>
            <a:br>
              <a:rPr b="1" lang="en-US" sz="5307">
                <a:latin typeface="Arial"/>
                <a:ea typeface="Arial"/>
                <a:cs typeface="Arial"/>
                <a:sym typeface="Arial"/>
              </a:rPr>
            </a:br>
            <a:endParaRPr b="1" sz="5307">
              <a:latin typeface="Arial"/>
              <a:ea typeface="Arial"/>
              <a:cs typeface="Arial"/>
              <a:sym typeface="Arial"/>
            </a:endParaRPr>
          </a:p>
          <a:p>
            <a:pPr indent="-31286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US" sz="5307">
                <a:latin typeface="Arial"/>
                <a:ea typeface="Arial"/>
                <a:cs typeface="Arial"/>
                <a:sym typeface="Arial"/>
              </a:rPr>
              <a:t>Lowest: </a:t>
            </a:r>
            <a:r>
              <a:rPr b="1" lang="en-US" sz="5307">
                <a:latin typeface="Arial"/>
                <a:ea typeface="Arial"/>
                <a:cs typeface="Arial"/>
                <a:sym typeface="Arial"/>
              </a:rPr>
              <a:t>February (£126k)</a:t>
            </a:r>
            <a:endParaRPr b="1" sz="530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5307">
                <a:latin typeface="Arial"/>
                <a:ea typeface="Arial"/>
                <a:cs typeface="Arial"/>
                <a:sym typeface="Arial"/>
              </a:rPr>
              <a:t>Ticket Class:</a:t>
            </a:r>
            <a:endParaRPr b="1" sz="5307">
              <a:latin typeface="Arial"/>
              <a:ea typeface="Arial"/>
              <a:cs typeface="Arial"/>
              <a:sym typeface="Arial"/>
            </a:endParaRPr>
          </a:p>
          <a:p>
            <a:pPr indent="-31286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US" sz="5307">
                <a:latin typeface="Arial"/>
                <a:ea typeface="Arial"/>
                <a:cs typeface="Arial"/>
                <a:sym typeface="Arial"/>
              </a:rPr>
              <a:t>Standard Class generated more revenue than First Class.</a:t>
            </a:r>
            <a:endParaRPr sz="530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5307">
                <a:latin typeface="Arial"/>
                <a:ea typeface="Arial"/>
                <a:cs typeface="Arial"/>
                <a:sym typeface="Arial"/>
              </a:rPr>
              <a:t>Payment Methods:</a:t>
            </a:r>
            <a:endParaRPr b="1" sz="5307">
              <a:latin typeface="Arial"/>
              <a:ea typeface="Arial"/>
              <a:cs typeface="Arial"/>
              <a:sym typeface="Arial"/>
            </a:endParaRPr>
          </a:p>
          <a:p>
            <a:pPr indent="-31286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US" sz="5307">
                <a:latin typeface="Arial"/>
                <a:ea typeface="Arial"/>
                <a:cs typeface="Arial"/>
                <a:sym typeface="Arial"/>
              </a:rPr>
              <a:t>Most used: Credit Card, followed by Contactless and Debit Card.</a:t>
            </a:r>
            <a:endParaRPr sz="530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b94538e12_0_72"/>
          <p:cNvSpPr txBox="1"/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Revenue Insights</a:t>
            </a:r>
            <a:endParaRPr/>
          </a:p>
        </p:txBody>
      </p:sp>
      <p:sp>
        <p:nvSpPr>
          <p:cNvPr id="202" name="Google Shape;202;g3ab94538e12_0_72"/>
          <p:cNvSpPr txBox="1"/>
          <p:nvPr>
            <p:ph idx="1" type="body"/>
          </p:nvPr>
        </p:nvSpPr>
        <p:spPr>
          <a:xfrm>
            <a:off x="685801" y="2142067"/>
            <a:ext cx="10131300" cy="364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High-revenue routes/stations should receive investment and improved service quality.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Low-revenue stations may need marketing, better connectivity, or optimized schedules.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Standard Class demand indicates price sensitivity among passengers.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Monthly variations suggest opportunities for targeted seasonal promotions.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b94538e12_0_79"/>
          <p:cNvSpPr txBox="1"/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Revenue Recommendations</a:t>
            </a:r>
            <a:endParaRPr/>
          </a:p>
        </p:txBody>
      </p:sp>
      <p:sp>
        <p:nvSpPr>
          <p:cNvPr id="208" name="Google Shape;208;g3ab94538e12_0_79"/>
          <p:cNvSpPr txBox="1"/>
          <p:nvPr>
            <p:ph idx="1" type="body"/>
          </p:nvPr>
        </p:nvSpPr>
        <p:spPr>
          <a:xfrm>
            <a:off x="685801" y="2142067"/>
            <a:ext cx="10131300" cy="364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Increase train frequency on high-demand routes.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Improve customer experience at busy stations.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Reevaluate First Class pricing to boost interest.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Tailor marketing campaigns based on monthly demand trends.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b94538e12_0_93"/>
          <p:cNvSpPr txBox="1"/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Refund Analysis (Summary)</a:t>
            </a:r>
            <a:endParaRPr/>
          </a:p>
        </p:txBody>
      </p:sp>
      <p:sp>
        <p:nvSpPr>
          <p:cNvPr id="214" name="Google Shape;214;g3ab94538e12_0_93"/>
          <p:cNvSpPr txBox="1"/>
          <p:nvPr>
            <p:ph idx="1" type="body"/>
          </p:nvPr>
        </p:nvSpPr>
        <p:spPr>
          <a:xfrm>
            <a:off x="685800" y="1944775"/>
            <a:ext cx="10131300" cy="422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Total Refund Requests: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1,118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Refund Rate: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3.53% of total tickets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Total Refund Amount: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£38,702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Average Refund: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£34.62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Refund Reasons: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Cancellations: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51.16%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Delays: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48.84%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Refund by Ticket Type: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Highest: Advance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Medium: Off-Peak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Lowest: Anytime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Refund Channels: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At stations: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709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Online: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409</a:t>
            </a:r>
            <a:endParaRPr sz="952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b94538e12_0_115"/>
          <p:cNvSpPr txBox="1"/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Refund Recommendations</a:t>
            </a:r>
            <a:endParaRPr/>
          </a:p>
        </p:txBody>
      </p:sp>
      <p:sp>
        <p:nvSpPr>
          <p:cNvPr id="220" name="Google Shape;220;g3ab94538e12_0_115"/>
          <p:cNvSpPr txBox="1"/>
          <p:nvPr>
            <p:ph idx="1" type="body"/>
          </p:nvPr>
        </p:nvSpPr>
        <p:spPr>
          <a:xfrm>
            <a:off x="685801" y="2142067"/>
            <a:ext cx="10131300" cy="364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Refund % is low overall → indicates generally good service levels.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High refunds for Advance tickets suggest disruptions or last-minute travel changes.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Majority of refunds happening in stations → passengers still prefer face-to-face problem solving.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b94538e12_0_122"/>
          <p:cNvSpPr txBox="1"/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Routes Analysis (Summary)</a:t>
            </a:r>
            <a:endParaRPr/>
          </a:p>
        </p:txBody>
      </p:sp>
      <p:sp>
        <p:nvSpPr>
          <p:cNvPr id="226" name="Google Shape;226;g3ab94538e12_0_122"/>
          <p:cNvSpPr txBox="1"/>
          <p:nvPr>
            <p:ph idx="1" type="body"/>
          </p:nvPr>
        </p:nvSpPr>
        <p:spPr>
          <a:xfrm>
            <a:off x="685801" y="2142067"/>
            <a:ext cx="10131300" cy="364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High number of delays +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1,880 cancellations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observed.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Top Departure Stations: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Manchester Piccadilly, London Euston, Liverpool Lime Street, London Paddington, London Kings Cross.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Top Arrival Stations: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Birmingham New Street, Liverpool Lime Street, York, Manchester Piccadilly, Reading.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Key Delay Reasons: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Weather → Technical Issues → Signal Failure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Key Cancellation Reason: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Signal Failure (most dominant)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b94538e12_0_129"/>
          <p:cNvSpPr txBox="1"/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Routes Insights</a:t>
            </a:r>
            <a:endParaRPr/>
          </a:p>
        </p:txBody>
      </p:sp>
      <p:sp>
        <p:nvSpPr>
          <p:cNvPr id="232" name="Google Shape;232;g3ab94538e12_0_129"/>
          <p:cNvSpPr txBox="1"/>
          <p:nvPr>
            <p:ph idx="1" type="body"/>
          </p:nvPr>
        </p:nvSpPr>
        <p:spPr>
          <a:xfrm>
            <a:off x="685801" y="2142067"/>
            <a:ext cx="10131300" cy="364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Certain routes require operational improvement due to frequent delays/cancellations.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Popular stations represent huge revenue potential and need better infrastructure.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Weather-related delays show need for more resilient systems.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Signal failures indicate weak rail signaling infrastructure.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b94538e12_0_136"/>
          <p:cNvSpPr txBox="1"/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Routes Recommendations</a:t>
            </a:r>
            <a:endParaRPr/>
          </a:p>
        </p:txBody>
      </p:sp>
      <p:sp>
        <p:nvSpPr>
          <p:cNvPr id="238" name="Google Shape;238;g3ab94538e12_0_136"/>
          <p:cNvSpPr txBox="1"/>
          <p:nvPr>
            <p:ph idx="1" type="body"/>
          </p:nvPr>
        </p:nvSpPr>
        <p:spPr>
          <a:xfrm>
            <a:off x="685801" y="2142067"/>
            <a:ext cx="10131300" cy="364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Upgrade signaling systems to minimize cancellations.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Improve infrastructure to handle weather disruptions.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Ensure adequate staffing to avoid service interruptions.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Promote popular routes and improve underperforming ones via targeted campaigns.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b94538e12_0_86"/>
          <p:cNvSpPr txBox="1"/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44" name="Google Shape;244;g3ab94538e12_0_86"/>
          <p:cNvSpPr txBox="1"/>
          <p:nvPr>
            <p:ph idx="1" type="body"/>
          </p:nvPr>
        </p:nvSpPr>
        <p:spPr>
          <a:xfrm>
            <a:off x="685801" y="2142067"/>
            <a:ext cx="10131300" cy="3649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3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5357"/>
              <a:t>The analysis provides a comprehensive view of UK rail performance from Jan–Apr 2024.</a:t>
            </a:r>
            <a:br>
              <a:rPr lang="en-US" sz="5357"/>
            </a:br>
            <a:r>
              <a:rPr lang="en-US" sz="5357"/>
              <a:t> Key findings:</a:t>
            </a:r>
            <a:endParaRPr sz="5357"/>
          </a:p>
          <a:p>
            <a:pPr indent="-32472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86934"/>
              <a:buChar char="●"/>
            </a:pPr>
            <a:r>
              <a:rPr lang="en-US" sz="5357"/>
              <a:t>Seasonal fluctuations in revenue.</a:t>
            </a:r>
            <a:br>
              <a:rPr lang="en-US" sz="5357"/>
            </a:br>
            <a:endParaRPr sz="5357"/>
          </a:p>
          <a:p>
            <a:pPr indent="-3247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6934"/>
              <a:buChar char="●"/>
            </a:pPr>
            <a:r>
              <a:rPr lang="en-US" sz="5357"/>
              <a:t>High dependence on Standard Class and digital payments.</a:t>
            </a:r>
            <a:br>
              <a:rPr lang="en-US" sz="5357"/>
            </a:br>
            <a:endParaRPr sz="5357"/>
          </a:p>
          <a:p>
            <a:pPr indent="-3247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6934"/>
              <a:buChar char="●"/>
            </a:pPr>
            <a:r>
              <a:rPr lang="en-US" sz="5357"/>
              <a:t>Delays and cancellations remain the largest operational issues affecting refunds.</a:t>
            </a:r>
            <a:br>
              <a:rPr lang="en-US" sz="5357"/>
            </a:br>
            <a:endParaRPr sz="5357"/>
          </a:p>
          <a:p>
            <a:pPr indent="-3247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6934"/>
              <a:buChar char="●"/>
            </a:pPr>
            <a:r>
              <a:rPr lang="en-US" sz="5357"/>
              <a:t>Improving reliability, communication, and customer experience will drive long-term growth.</a:t>
            </a:r>
            <a:br>
              <a:rPr lang="en-US" sz="5357"/>
            </a:br>
            <a:endParaRPr sz="5357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5357"/>
              <a:t>By implementing these recommendations, the railway network can enhance service quality, increase passenger satisfaction, and optimize revenue performance.</a:t>
            </a:r>
            <a:endParaRPr sz="5357"/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